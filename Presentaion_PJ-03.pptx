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0" r:id="rId3"/>
    <p:sldId id="262" r:id="rId4"/>
    <p:sldId id="265" r:id="rId5"/>
    <p:sldId id="263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6C8B-2C67-4C8C-9AEB-4D623C7AD500}" type="datetimeFigureOut">
              <a:rPr lang="ru-RU" smtClean="0"/>
              <a:t>14.11.2023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07F78-C4F8-4F96-A596-438D5E88E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114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6C8B-2C67-4C8C-9AEB-4D623C7AD500}" type="datetimeFigureOut">
              <a:rPr lang="ru-RU" smtClean="0"/>
              <a:t>14.11.2023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07F78-C4F8-4F96-A596-438D5E88E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0401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6C8B-2C67-4C8C-9AEB-4D623C7AD500}" type="datetimeFigureOut">
              <a:rPr lang="ru-RU" smtClean="0"/>
              <a:t>14.11.2023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07F78-C4F8-4F96-A596-438D5E88E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82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6C8B-2C67-4C8C-9AEB-4D623C7AD500}" type="datetimeFigureOut">
              <a:rPr lang="ru-RU" smtClean="0"/>
              <a:t>14.11.2023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07F78-C4F8-4F96-A596-438D5E88E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172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6C8B-2C67-4C8C-9AEB-4D623C7AD500}" type="datetimeFigureOut">
              <a:rPr lang="ru-RU" smtClean="0"/>
              <a:t>14.11.2023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07F78-C4F8-4F96-A596-438D5E88E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898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6C8B-2C67-4C8C-9AEB-4D623C7AD500}" type="datetimeFigureOut">
              <a:rPr lang="ru-RU" smtClean="0"/>
              <a:t>14.11.2023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07F78-C4F8-4F96-A596-438D5E88E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6523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6C8B-2C67-4C8C-9AEB-4D623C7AD500}" type="datetimeFigureOut">
              <a:rPr lang="ru-RU" smtClean="0"/>
              <a:t>14.11.2023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07F78-C4F8-4F96-A596-438D5E88E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153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6C8B-2C67-4C8C-9AEB-4D623C7AD500}" type="datetimeFigureOut">
              <a:rPr lang="ru-RU" smtClean="0"/>
              <a:t>14.11.2023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07F78-C4F8-4F96-A596-438D5E88E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6507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6C8B-2C67-4C8C-9AEB-4D623C7AD500}" type="datetimeFigureOut">
              <a:rPr lang="ru-RU" smtClean="0"/>
              <a:t>14.11.2023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07F78-C4F8-4F96-A596-438D5E88E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466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6C8B-2C67-4C8C-9AEB-4D623C7AD500}" type="datetimeFigureOut">
              <a:rPr lang="ru-RU" smtClean="0"/>
              <a:t>14.11.2023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07F78-C4F8-4F96-A596-438D5E88E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332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6C8B-2C67-4C8C-9AEB-4D623C7AD500}" type="datetimeFigureOut">
              <a:rPr lang="ru-RU" smtClean="0"/>
              <a:t>14.11.2023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07F78-C4F8-4F96-A596-438D5E88E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2530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3C6C8B-2C67-4C8C-9AEB-4D623C7AD500}" type="datetimeFigureOut">
              <a:rPr lang="ru-RU" smtClean="0"/>
              <a:t>14.11.2023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707F78-C4F8-4F96-A596-438D5E88E2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3535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8903D5-BB80-DCF4-001D-A11CC3A83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440" y="1271380"/>
            <a:ext cx="12007120" cy="3146006"/>
          </a:xfrm>
        </p:spPr>
        <p:txBody>
          <a:bodyPr>
            <a:normAutofit/>
          </a:bodyPr>
          <a:lstStyle/>
          <a:p>
            <a:r>
              <a:rPr lang="ru-RU" sz="5400" dirty="0">
                <a:latin typeface="Comfortaa Light" pitchFamily="2" charset="0"/>
              </a:rPr>
              <a:t>Построение рекомендательной системы для интернет-ретейлера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4607F70-44D8-7212-EA3A-75F51AC32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6098" y="174315"/>
            <a:ext cx="1943371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938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8903D5-BB80-DCF4-001D-A11CC3A83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97118"/>
            <a:ext cx="9144000" cy="781388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Comfortaa Light" pitchFamily="2" charset="0"/>
              </a:rPr>
              <a:t>Задачи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A8AF47-8DF9-B8E0-B142-3A7A3FDCF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725" y="3032412"/>
            <a:ext cx="11549744" cy="1547084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>
                <a:latin typeface="Comfortaa Light" pitchFamily="2" charset="0"/>
              </a:rPr>
              <a:t>Построить рекомендательную систему для ретейлера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>
                <a:latin typeface="Comfortaa Light" pitchFamily="2" charset="0"/>
              </a:rPr>
              <a:t>Повысить прибыль от допродаж на 20% и более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>
                <a:latin typeface="Comfortaa Light" pitchFamily="2" charset="0"/>
              </a:rPr>
              <a:t>Качество измерить по метрике </a:t>
            </a:r>
            <a:r>
              <a:rPr lang="en-US" dirty="0">
                <a:latin typeface="Comfortaa Light" pitchFamily="2" charset="0"/>
              </a:rPr>
              <a:t>Precision@3</a:t>
            </a:r>
            <a:endParaRPr lang="ru-RU" dirty="0">
              <a:latin typeface="Comfortaa Light" pitchFamily="2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ru-RU" dirty="0">
              <a:latin typeface="Comfortaa Light" pitchFamily="2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4607F70-44D8-7212-EA3A-75F51AC32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6098" y="174315"/>
            <a:ext cx="1943371" cy="333422"/>
          </a:xfrm>
          <a:prstGeom prst="rect">
            <a:avLst/>
          </a:prstGeom>
        </p:spPr>
      </p:pic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89B7BC5B-7487-7FB4-6D8F-2C9E57A44603}"/>
              </a:ext>
            </a:extLst>
          </p:cNvPr>
          <p:cNvSpPr txBox="1">
            <a:spLocks/>
          </p:cNvSpPr>
          <p:nvPr/>
        </p:nvSpPr>
        <p:spPr>
          <a:xfrm>
            <a:off x="419725" y="5333402"/>
            <a:ext cx="11549744" cy="923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fortaa Light" pitchFamily="2" charset="0"/>
              </a:rPr>
              <a:t>Рекомендательная система должна выдать 3 наиболее релевантных товара для каждого пользователя на главной странице интернет-магазина</a:t>
            </a:r>
          </a:p>
        </p:txBody>
      </p:sp>
    </p:spTree>
    <p:extLst>
      <p:ext uri="{BB962C8B-B14F-4D97-AF65-F5344CB8AC3E}">
        <p14:creationId xmlns:p14="http://schemas.microsoft.com/office/powerpoint/2010/main" val="1517932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8903D5-BB80-DCF4-001D-A11CC3A83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09506"/>
            <a:ext cx="9144000" cy="781388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Comfortaa Light" pitchFamily="2" charset="0"/>
              </a:rPr>
              <a:t>Данные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A8AF47-8DF9-B8E0-B142-3A7A3FDCF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77973"/>
            <a:ext cx="9144000" cy="514690"/>
          </a:xfrm>
        </p:spPr>
        <p:txBody>
          <a:bodyPr/>
          <a:lstStyle/>
          <a:p>
            <a:r>
              <a:rPr lang="ru-RU" dirty="0">
                <a:latin typeface="Comfortaa Light" pitchFamily="2" charset="0"/>
              </a:rPr>
              <a:t>В обучении модели задействованы два датасета 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4607F70-44D8-7212-EA3A-75F51AC32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6098" y="174315"/>
            <a:ext cx="1943371" cy="333422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ECCE1216-BEF8-1426-024A-23511D18F0B8}"/>
              </a:ext>
            </a:extLst>
          </p:cNvPr>
          <p:cNvSpPr/>
          <p:nvPr/>
        </p:nvSpPr>
        <p:spPr>
          <a:xfrm>
            <a:off x="419725" y="2879742"/>
            <a:ext cx="5676275" cy="3131314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 b="1" i="0" dirty="0">
              <a:solidFill>
                <a:schemeClr val="bg1"/>
              </a:solidFill>
              <a:effectLst/>
              <a:latin typeface="Comfortaa Light" pitchFamily="2" charset="0"/>
            </a:endParaRPr>
          </a:p>
          <a:p>
            <a:pPr algn="ctr"/>
            <a:r>
              <a:rPr lang="en-US" sz="2400" b="1" i="0" dirty="0">
                <a:solidFill>
                  <a:schemeClr val="bg1"/>
                </a:solidFill>
                <a:effectLst/>
                <a:latin typeface="Comfortaa Light" pitchFamily="2" charset="0"/>
              </a:rPr>
              <a:t>E</a:t>
            </a:r>
            <a:r>
              <a:rPr lang="ru-RU" sz="2400" b="1" i="0" dirty="0">
                <a:solidFill>
                  <a:schemeClr val="bg1"/>
                </a:solidFill>
                <a:effectLst/>
                <a:latin typeface="Comfortaa Light" pitchFamily="2" charset="0"/>
              </a:rPr>
              <a:t>vents</a:t>
            </a:r>
          </a:p>
          <a:p>
            <a:pPr algn="ctr"/>
            <a:r>
              <a:rPr lang="ru-RU" b="1" i="0" dirty="0">
                <a:solidFill>
                  <a:schemeClr val="bg1"/>
                </a:solidFill>
                <a:effectLst/>
                <a:latin typeface="Comfortaa Light" pitchFamily="2" charset="0"/>
              </a:rPr>
              <a:t>датасет с событиями</a:t>
            </a:r>
          </a:p>
          <a:p>
            <a:pPr algn="ctr"/>
            <a:endParaRPr lang="ru-RU" b="1" dirty="0">
              <a:solidFill>
                <a:schemeClr val="bg1"/>
              </a:solidFill>
              <a:latin typeface="Comfortaa Light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bg1"/>
                </a:solidFill>
                <a:effectLst/>
                <a:latin typeface="Comfortaa Light" pitchFamily="2" charset="0"/>
              </a:rPr>
              <a:t>timestamp — время события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Comfortaa Light" pitchFamily="2" charset="0"/>
              </a:rPr>
              <a:t> (datetime64)</a:t>
            </a:r>
            <a:endParaRPr lang="ru-RU" sz="1600" b="0" i="0" dirty="0">
              <a:solidFill>
                <a:schemeClr val="bg1"/>
              </a:solidFill>
              <a:effectLst/>
              <a:latin typeface="Comfortaa Light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bg1"/>
                </a:solidFill>
                <a:effectLst/>
                <a:latin typeface="Comfortaa Light" pitchFamily="2" charset="0"/>
              </a:rPr>
              <a:t>visitorid — идентификатор пользователя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Comfortaa Light" pitchFamily="2" charset="0"/>
              </a:rPr>
              <a:t> (int64)</a:t>
            </a:r>
            <a:endParaRPr lang="ru-RU" sz="1600" b="0" i="0" dirty="0">
              <a:solidFill>
                <a:schemeClr val="bg1"/>
              </a:solidFill>
              <a:effectLst/>
              <a:latin typeface="Comfortaa Light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bg1"/>
                </a:solidFill>
                <a:effectLst/>
                <a:latin typeface="Comfortaa Light" pitchFamily="2" charset="0"/>
              </a:rPr>
              <a:t>event — тип события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Comfortaa Light" pitchFamily="2" charset="0"/>
              </a:rPr>
              <a:t> (object)</a:t>
            </a:r>
            <a:endParaRPr lang="ru-RU" sz="1600" b="0" i="0" dirty="0">
              <a:solidFill>
                <a:schemeClr val="bg1"/>
              </a:solidFill>
              <a:effectLst/>
              <a:latin typeface="Comfortaa Light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bg1"/>
                </a:solidFill>
                <a:effectLst/>
                <a:latin typeface="Comfortaa Light" pitchFamily="2" charset="0"/>
              </a:rPr>
              <a:t>itemid — идентификатор объекта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Comfortaa Light" pitchFamily="2" charset="0"/>
              </a:rPr>
              <a:t> (int64)</a:t>
            </a:r>
            <a:endParaRPr lang="ru-RU" sz="1600" b="0" i="0" dirty="0">
              <a:solidFill>
                <a:schemeClr val="bg1"/>
              </a:solidFill>
              <a:effectLst/>
              <a:latin typeface="Comfortaa Light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bg1"/>
                </a:solidFill>
                <a:effectLst/>
                <a:latin typeface="Comfortaa Light" pitchFamily="2" charset="0"/>
              </a:rPr>
              <a:t>transactionid — идентификатор транзакции, если она проходила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Comfortaa Light" pitchFamily="2" charset="0"/>
              </a:rPr>
              <a:t> (float64)</a:t>
            </a:r>
            <a:endParaRPr lang="ru-RU" sz="1600" b="0" i="0" dirty="0">
              <a:solidFill>
                <a:schemeClr val="bg1"/>
              </a:solidFill>
              <a:effectLst/>
              <a:latin typeface="Comfortaa Light" pitchFamily="2" charset="0"/>
            </a:endParaRPr>
          </a:p>
          <a:p>
            <a:pPr algn="ctr"/>
            <a:endParaRPr lang="ru-RU" sz="1600" b="1" dirty="0">
              <a:solidFill>
                <a:schemeClr val="bg1"/>
              </a:solidFill>
              <a:latin typeface="Comfortaa Light" pitchFamily="2" charset="0"/>
            </a:endParaRPr>
          </a:p>
          <a:p>
            <a:pPr algn="ctr"/>
            <a:endParaRPr lang="ru-RU" sz="1600" dirty="0">
              <a:solidFill>
                <a:schemeClr val="bg1"/>
              </a:solidFill>
              <a:latin typeface="Comfortaa Light" pitchFamily="2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A5B6F9B-65AC-4798-7437-7BFC8CB6D836}"/>
              </a:ext>
            </a:extLst>
          </p:cNvPr>
          <p:cNvSpPr/>
          <p:nvPr/>
        </p:nvSpPr>
        <p:spPr>
          <a:xfrm>
            <a:off x="6430779" y="2879742"/>
            <a:ext cx="5341496" cy="3131314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omfortaa Light" pitchFamily="2" charset="0"/>
              </a:rPr>
              <a:t>P</a:t>
            </a:r>
            <a:r>
              <a:rPr lang="ru-RU" sz="2400" b="1" i="0" dirty="0">
                <a:solidFill>
                  <a:schemeClr val="bg1"/>
                </a:solidFill>
                <a:effectLst/>
                <a:latin typeface="Comfortaa Light" pitchFamily="2" charset="0"/>
              </a:rPr>
              <a:t>roperties</a:t>
            </a:r>
          </a:p>
          <a:p>
            <a:pPr algn="ctr"/>
            <a:r>
              <a:rPr lang="ru-RU" b="1" dirty="0">
                <a:solidFill>
                  <a:schemeClr val="bg1"/>
                </a:solidFill>
                <a:latin typeface="Comfortaa Light" pitchFamily="2" charset="0"/>
              </a:rPr>
              <a:t>д</a:t>
            </a:r>
            <a:r>
              <a:rPr lang="ru-RU" b="1" i="0" dirty="0">
                <a:solidFill>
                  <a:schemeClr val="bg1"/>
                </a:solidFill>
                <a:effectLst/>
                <a:latin typeface="Comfortaa Light" pitchFamily="2" charset="0"/>
              </a:rPr>
              <a:t>атасет со свойствами товаров</a:t>
            </a:r>
            <a:endParaRPr lang="en-US" b="1" i="0" dirty="0">
              <a:solidFill>
                <a:schemeClr val="bg1"/>
              </a:solidFill>
              <a:effectLst/>
              <a:latin typeface="Comfortaa Light" pitchFamily="2" charset="0"/>
            </a:endParaRPr>
          </a:p>
          <a:p>
            <a:pPr algn="ctr"/>
            <a:endParaRPr lang="ru-RU" sz="1600" b="0" i="0" dirty="0">
              <a:solidFill>
                <a:schemeClr val="bg1"/>
              </a:solidFill>
              <a:effectLst/>
              <a:latin typeface="Comfortaa Light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bg1"/>
                </a:solidFill>
                <a:effectLst/>
                <a:latin typeface="Comfortaa Light" pitchFamily="2" charset="0"/>
              </a:rPr>
              <a:t>timestamp — момент записи значения свойства (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Comfortaa Light" pitchFamily="2" charset="0"/>
              </a:rPr>
              <a:t>int64</a:t>
            </a:r>
            <a:r>
              <a:rPr lang="ru-RU" sz="1600" b="0" i="0" dirty="0">
                <a:solidFill>
                  <a:schemeClr val="bg1"/>
                </a:solidFill>
                <a:effectLst/>
                <a:latin typeface="Comfortaa Light" pitchFamily="2" charset="0"/>
              </a:rPr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bg1"/>
                </a:solidFill>
                <a:effectLst/>
                <a:latin typeface="Comfortaa Light" pitchFamily="2" charset="0"/>
              </a:rPr>
              <a:t>item_id — идентификатор объекта (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Comfortaa Light" pitchFamily="2" charset="0"/>
              </a:rPr>
              <a:t>int64</a:t>
            </a:r>
            <a:r>
              <a:rPr lang="ru-RU" sz="1600" b="0" i="0" dirty="0">
                <a:solidFill>
                  <a:schemeClr val="bg1"/>
                </a:solidFill>
                <a:effectLst/>
                <a:latin typeface="Comfortaa Light" pitchFamily="2" charset="0"/>
              </a:rPr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bg1"/>
                </a:solidFill>
                <a:effectLst/>
                <a:latin typeface="Comfortaa Light" pitchFamily="2" charset="0"/>
              </a:rPr>
              <a:t>property — свойство (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Comfortaa Light" pitchFamily="2" charset="0"/>
              </a:rPr>
              <a:t>object</a:t>
            </a:r>
            <a:r>
              <a:rPr lang="ru-RU" sz="1600" b="0" i="0" dirty="0">
                <a:solidFill>
                  <a:schemeClr val="bg1"/>
                </a:solidFill>
                <a:effectLst/>
                <a:latin typeface="Comfortaa Light" pitchFamily="2" charset="0"/>
              </a:rPr>
              <a:t>)</a:t>
            </a:r>
            <a:endParaRPr lang="ru-RU" sz="1600" dirty="0">
              <a:solidFill>
                <a:schemeClr val="bg1"/>
              </a:solidFill>
              <a:latin typeface="Comfortaa Light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bg1"/>
                </a:solidFill>
                <a:effectLst/>
                <a:latin typeface="Comfortaa Light" pitchFamily="2" charset="0"/>
              </a:rPr>
              <a:t>value — значение свойств (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Comfortaa Light" pitchFamily="2" charset="0"/>
              </a:rPr>
              <a:t>object</a:t>
            </a:r>
            <a:r>
              <a:rPr lang="ru-RU" sz="1600" b="0" i="0" dirty="0">
                <a:solidFill>
                  <a:schemeClr val="bg1"/>
                </a:solidFill>
                <a:effectLst/>
                <a:latin typeface="Comfortaa Light" pitchFamily="2" charset="0"/>
              </a:rPr>
              <a:t>)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0E8FCF6-03C3-58E2-DFC2-E57EB1D591CE}"/>
              </a:ext>
            </a:extLst>
          </p:cNvPr>
          <p:cNvSpPr txBox="1">
            <a:spLocks/>
          </p:cNvSpPr>
          <p:nvPr/>
        </p:nvSpPr>
        <p:spPr>
          <a:xfrm>
            <a:off x="0" y="6160386"/>
            <a:ext cx="12191999" cy="677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fortaa Light" pitchFamily="2" charset="0"/>
              </a:rPr>
              <a:t>+ Были сгенерированы новые признаки</a:t>
            </a:r>
          </a:p>
        </p:txBody>
      </p:sp>
    </p:spTree>
    <p:extLst>
      <p:ext uri="{BB962C8B-B14F-4D97-AF65-F5344CB8AC3E}">
        <p14:creationId xmlns:p14="http://schemas.microsoft.com/office/powerpoint/2010/main" val="2236468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8903D5-BB80-DCF4-001D-A11CC3A83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09506"/>
            <a:ext cx="9144000" cy="781388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Comfortaa Light" pitchFamily="2" charset="0"/>
              </a:rPr>
              <a:t>Модель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A8AF47-8DF9-B8E0-B142-3A7A3FDCF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77973"/>
            <a:ext cx="9144000" cy="514690"/>
          </a:xfrm>
        </p:spPr>
        <p:txBody>
          <a:bodyPr/>
          <a:lstStyle/>
          <a:p>
            <a:r>
              <a:rPr lang="ru-RU" dirty="0">
                <a:latin typeface="Comfortaa Light" pitchFamily="2" charset="0"/>
              </a:rPr>
              <a:t>Для сравнения обучены три модели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4607F70-44D8-7212-EA3A-75F51AC32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6098" y="174315"/>
            <a:ext cx="1943371" cy="333422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ECCE1216-BEF8-1426-024A-23511D18F0B8}"/>
              </a:ext>
            </a:extLst>
          </p:cNvPr>
          <p:cNvSpPr/>
          <p:nvPr/>
        </p:nvSpPr>
        <p:spPr>
          <a:xfrm>
            <a:off x="854440" y="3032086"/>
            <a:ext cx="3094105" cy="1937479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omfortaa Light" pitchFamily="2" charset="0"/>
              </a:rPr>
              <a:t>LightFM</a:t>
            </a:r>
            <a:endParaRPr lang="ru-RU" sz="2400" dirty="0">
              <a:solidFill>
                <a:schemeClr val="bg1"/>
              </a:solidFill>
              <a:latin typeface="Comfortaa Light" pitchFamily="2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A5B6F9B-65AC-4798-7437-7BFC8CB6D836}"/>
              </a:ext>
            </a:extLst>
          </p:cNvPr>
          <p:cNvSpPr/>
          <p:nvPr/>
        </p:nvSpPr>
        <p:spPr>
          <a:xfrm>
            <a:off x="4344648" y="3032086"/>
            <a:ext cx="3094105" cy="1937479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omfortaa Light" pitchFamily="2" charset="0"/>
              </a:rPr>
              <a:t>ALS</a:t>
            </a:r>
            <a:endParaRPr lang="ru-RU" sz="2400" dirty="0">
              <a:solidFill>
                <a:schemeClr val="bg1"/>
              </a:solidFill>
              <a:latin typeface="Comfortaa Light" pitchFamily="2" charset="0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0E8FCF6-03C3-58E2-DFC2-E57EB1D591CE}"/>
              </a:ext>
            </a:extLst>
          </p:cNvPr>
          <p:cNvSpPr txBox="1">
            <a:spLocks/>
          </p:cNvSpPr>
          <p:nvPr/>
        </p:nvSpPr>
        <p:spPr>
          <a:xfrm>
            <a:off x="419725" y="5648494"/>
            <a:ext cx="11549744" cy="6773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fortaa Light" pitchFamily="2" charset="0"/>
              </a:rPr>
              <a:t>Обучение каждой модели проходило по два раза на двух наборах данных: </a:t>
            </a: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fortaa Light" pitchFamily="2" charset="0"/>
              </a:rPr>
              <a:t>events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fortaa Light" pitchFamily="2" charset="0"/>
              </a:rPr>
              <a:t>и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fortaa Light" pitchFamily="2" charset="0"/>
              </a:rPr>
              <a:t>combined_data (events + properties)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Comfortaa Light" pitchFamily="2" charset="0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1138EDB-CE90-47E1-EA56-96DFA2CF0577}"/>
              </a:ext>
            </a:extLst>
          </p:cNvPr>
          <p:cNvSpPr/>
          <p:nvPr/>
        </p:nvSpPr>
        <p:spPr>
          <a:xfrm>
            <a:off x="7834856" y="3032086"/>
            <a:ext cx="3094105" cy="1937479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omfortaa Light" pitchFamily="2" charset="0"/>
              </a:rPr>
              <a:t>SVD</a:t>
            </a:r>
            <a:endParaRPr lang="ru-RU" sz="2400" dirty="0">
              <a:solidFill>
                <a:schemeClr val="bg1"/>
              </a:solidFill>
              <a:latin typeface="Comfortaa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08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8903D5-BB80-DCF4-001D-A11CC3A83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3704"/>
            <a:ext cx="9144000" cy="781388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Comfortaa Light" pitchFamily="2" charset="0"/>
              </a:rPr>
              <a:t>Итоговые значения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4607F70-44D8-7212-EA3A-75F51AC32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6098" y="174315"/>
            <a:ext cx="1943371" cy="333422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A981AE5-5F14-C763-81DC-C50941158CF3}"/>
              </a:ext>
            </a:extLst>
          </p:cNvPr>
          <p:cNvSpPr/>
          <p:nvPr/>
        </p:nvSpPr>
        <p:spPr>
          <a:xfrm>
            <a:off x="970066" y="2865506"/>
            <a:ext cx="3283279" cy="781388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omfortaa Light" pitchFamily="2" charset="0"/>
              </a:rPr>
              <a:t>LightFM</a:t>
            </a:r>
            <a:endParaRPr lang="ru-RU" sz="2400" dirty="0">
              <a:solidFill>
                <a:schemeClr val="bg1"/>
              </a:solidFill>
              <a:latin typeface="Comfortaa Light" pitchFamily="2" charset="0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143DD1C-0E8B-F00B-D9F7-C3F9F29FA8E7}"/>
              </a:ext>
            </a:extLst>
          </p:cNvPr>
          <p:cNvSpPr/>
          <p:nvPr/>
        </p:nvSpPr>
        <p:spPr>
          <a:xfrm>
            <a:off x="4577323" y="2865506"/>
            <a:ext cx="3283279" cy="781389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omfortaa Light" pitchFamily="2" charset="0"/>
              </a:rPr>
              <a:t>ALS</a:t>
            </a:r>
            <a:endParaRPr lang="ru-RU" sz="2400" dirty="0">
              <a:solidFill>
                <a:schemeClr val="bg1"/>
              </a:solidFill>
              <a:latin typeface="Comfortaa Light" pitchFamily="2" charset="0"/>
            </a:endParaRPr>
          </a:p>
        </p:txBody>
      </p:sp>
      <p:sp>
        <p:nvSpPr>
          <p:cNvPr id="10" name="Стрелка: вниз 9">
            <a:extLst>
              <a:ext uri="{FF2B5EF4-FFF2-40B4-BE49-F238E27FC236}">
                <a16:creationId xmlns:a16="http://schemas.microsoft.com/office/drawing/2014/main" id="{6DA2BBFB-EA2D-0E4C-DD5E-9F95BF0819D7}"/>
              </a:ext>
            </a:extLst>
          </p:cNvPr>
          <p:cNvSpPr/>
          <p:nvPr/>
        </p:nvSpPr>
        <p:spPr>
          <a:xfrm>
            <a:off x="5975523" y="3821366"/>
            <a:ext cx="407207" cy="489204"/>
          </a:xfrm>
          <a:prstGeom prst="down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553A9198-C345-3AAB-75B0-1E9D4937EC77}"/>
              </a:ext>
            </a:extLst>
          </p:cNvPr>
          <p:cNvSpPr/>
          <p:nvPr/>
        </p:nvSpPr>
        <p:spPr>
          <a:xfrm>
            <a:off x="2408100" y="3821366"/>
            <a:ext cx="407207" cy="489204"/>
          </a:xfrm>
          <a:prstGeom prst="down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E6DE1925-3342-95A0-102D-9D69119E9F04}"/>
              </a:ext>
            </a:extLst>
          </p:cNvPr>
          <p:cNvSpPr/>
          <p:nvPr/>
        </p:nvSpPr>
        <p:spPr>
          <a:xfrm>
            <a:off x="1640457" y="4535416"/>
            <a:ext cx="2250056" cy="781388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Comfortaa Light" pitchFamily="2" charset="0"/>
              </a:rPr>
              <a:t>5.39% / 6.48%</a:t>
            </a:r>
          </a:p>
        </p:txBody>
      </p:sp>
      <p:sp>
        <p:nvSpPr>
          <p:cNvPr id="16" name="Подзаголовок 2">
            <a:extLst>
              <a:ext uri="{FF2B5EF4-FFF2-40B4-BE49-F238E27FC236}">
                <a16:creationId xmlns:a16="http://schemas.microsoft.com/office/drawing/2014/main" id="{04563324-3729-A6D9-E72A-179D6A51F68B}"/>
              </a:ext>
            </a:extLst>
          </p:cNvPr>
          <p:cNvSpPr txBox="1">
            <a:spLocks/>
          </p:cNvSpPr>
          <p:nvPr/>
        </p:nvSpPr>
        <p:spPr>
          <a:xfrm>
            <a:off x="321128" y="2083171"/>
            <a:ext cx="11549744" cy="46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fortaa Light" pitchFamily="2" charset="0"/>
              </a:rPr>
              <a:t>на датасетах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fortaa Light" pitchFamily="2" charset="0"/>
              </a:rPr>
              <a:t>events / combined_data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Comfortaa Light" pitchFamily="2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1F439F24-F626-2E9E-CE29-9A9BEA019D24}"/>
              </a:ext>
            </a:extLst>
          </p:cNvPr>
          <p:cNvSpPr/>
          <p:nvPr/>
        </p:nvSpPr>
        <p:spPr>
          <a:xfrm>
            <a:off x="8104909" y="2865505"/>
            <a:ext cx="3283279" cy="781389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omfortaa Light" pitchFamily="2" charset="0"/>
              </a:rPr>
              <a:t>SVD</a:t>
            </a:r>
            <a:endParaRPr lang="ru-RU" sz="2400" dirty="0">
              <a:solidFill>
                <a:schemeClr val="bg1"/>
              </a:solidFill>
              <a:latin typeface="Comfortaa Light" pitchFamily="2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98178A7-EF4E-5A31-DE8F-706F403AFA70}"/>
              </a:ext>
            </a:extLst>
          </p:cNvPr>
          <p:cNvSpPr/>
          <p:nvPr/>
        </p:nvSpPr>
        <p:spPr>
          <a:xfrm>
            <a:off x="5140036" y="4535416"/>
            <a:ext cx="2250056" cy="781388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Comfortaa Light" pitchFamily="2" charset="0"/>
              </a:rPr>
              <a:t>0.61% / 1.34%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A068574-A4CD-03EC-B8D3-F1B36E2E8A7C}"/>
              </a:ext>
            </a:extLst>
          </p:cNvPr>
          <p:cNvSpPr/>
          <p:nvPr/>
        </p:nvSpPr>
        <p:spPr>
          <a:xfrm>
            <a:off x="8639615" y="4535416"/>
            <a:ext cx="2250057" cy="781388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Comfortaa Light" pitchFamily="2" charset="0"/>
              </a:rPr>
              <a:t>19.56% / 10.64%</a:t>
            </a:r>
          </a:p>
        </p:txBody>
      </p:sp>
      <p:sp>
        <p:nvSpPr>
          <p:cNvPr id="12" name="Стрелка: вниз 11">
            <a:extLst>
              <a:ext uri="{FF2B5EF4-FFF2-40B4-BE49-F238E27FC236}">
                <a16:creationId xmlns:a16="http://schemas.microsoft.com/office/drawing/2014/main" id="{4F4C15DC-59C3-C1FE-1437-7BF43C37A842}"/>
              </a:ext>
            </a:extLst>
          </p:cNvPr>
          <p:cNvSpPr/>
          <p:nvPr/>
        </p:nvSpPr>
        <p:spPr>
          <a:xfrm>
            <a:off x="9542943" y="3872345"/>
            <a:ext cx="407207" cy="438225"/>
          </a:xfrm>
          <a:prstGeom prst="down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одзаголовок 2">
            <a:extLst>
              <a:ext uri="{FF2B5EF4-FFF2-40B4-BE49-F238E27FC236}">
                <a16:creationId xmlns:a16="http://schemas.microsoft.com/office/drawing/2014/main" id="{C6707242-41A8-F80A-7B77-75C1B5ABE3C3}"/>
              </a:ext>
            </a:extLst>
          </p:cNvPr>
          <p:cNvSpPr txBox="1">
            <a:spLocks/>
          </p:cNvSpPr>
          <p:nvPr/>
        </p:nvSpPr>
        <p:spPr>
          <a:xfrm>
            <a:off x="473528" y="5968304"/>
            <a:ext cx="11549744" cy="923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fortaa Light" pitchFamily="2" charset="0"/>
              </a:rPr>
              <a:t>Таким образом, модель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mfortaa Light" pitchFamily="2" charset="0"/>
              </a:rPr>
              <a:t>SVD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fortaa Light" pitchFamily="2" charset="0"/>
              </a:rPr>
              <a:t>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fortaa Light" pitchFamily="2" charset="0"/>
              </a:rPr>
              <a:t>на датасете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mfortaa Light" pitchFamily="2" charset="0"/>
              </a:rPr>
              <a:t>events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fortaa Light" pitchFamily="2" charset="0"/>
              </a:rPr>
              <a:t>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fortaa Light" pitchFamily="2" charset="0"/>
              </a:rPr>
              <a:t>показала лучшую метрику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fortaa Light" pitchFamily="2" charset="0"/>
              </a:rPr>
              <a:t>Precision@3 –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mfortaa Light" pitchFamily="2" charset="0"/>
              </a:rPr>
              <a:t>19,56%</a:t>
            </a:r>
            <a:endParaRPr lang="ru-RU" sz="2000" b="1" dirty="0">
              <a:solidFill>
                <a:schemeClr val="tx1">
                  <a:lumMod val="75000"/>
                  <a:lumOff val="25000"/>
                </a:schemeClr>
              </a:solidFill>
              <a:latin typeface="Comfortaa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7797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838</TotalTime>
  <Words>210</Words>
  <Application>Microsoft Office PowerPoint</Application>
  <PresentationFormat>Широкоэкранный</PresentationFormat>
  <Paragraphs>41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Comfortaa Light</vt:lpstr>
      <vt:lpstr>Тема Office</vt:lpstr>
      <vt:lpstr>Построение рекомендательной системы для интернет-ретейлера</vt:lpstr>
      <vt:lpstr>Задачи</vt:lpstr>
      <vt:lpstr>Данные</vt:lpstr>
      <vt:lpstr>Модель</vt:lpstr>
      <vt:lpstr>Итоговые значения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Заголовка</dc:title>
  <dc:creator>Андрей Абрамов</dc:creator>
  <cp:lastModifiedBy>Андрей Абрамов</cp:lastModifiedBy>
  <cp:revision>3</cp:revision>
  <dcterms:created xsi:type="dcterms:W3CDTF">2023-10-10T08:43:30Z</dcterms:created>
  <dcterms:modified xsi:type="dcterms:W3CDTF">2023-11-14T07:46:43Z</dcterms:modified>
</cp:coreProperties>
</file>